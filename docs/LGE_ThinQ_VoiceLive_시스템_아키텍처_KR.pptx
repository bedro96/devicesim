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7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KOREA  ·  STU &amp; GBB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LGE ThinQ Voice Live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2971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시스템 아키텍처 설계 문서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gpt-realtime-2 (BYOM) · Azure Voice Live 네이티브 모델 이중 지원 구조   ·   브라우저 · CLI(Python/C#) 클라이언트   ·   Pub/Sub 기기·생활정보 연동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526280"/>
            <a:ext cx="10881360" cy="0"/>
          </a:xfrm>
          <a:prstGeom prst="line">
            <a:avLst/>
          </a:prstGeom>
          <a:noFill/>
          <a:ln w="12700">
            <a:solidFill>
              <a:srgbClr val="3E7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7091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대상: LG전자 · Microsoft 개발/아키텍처 협업팀   ·   목적: Voice Live 백엔드 전체 구조 온보딩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버전 v1.0 — 2026/07/06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개요 ·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왜 이 아키텍처인가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1247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LGE ThinQ Voice Live PoC 백엔드는 하나의 FastAPI 프로세스에서 브라우저·CLI 디바이스 시뮬레이터 양쪽의 실시간 음성 세션을 중계하고, Azure Voice Live 네이티브 모델과 자체 배포 gpt-realtime-2(BYOM) 모델을 동일한 코드 경로에서 선택적으로 연결합니다. 기기 제어·생활정보(날씨/뉴스)는 Function Calling으로 Living API 및 외부 API와 실시간으로 연동되며, 상태 변경은 프로세스 내 Pub/Sub으로 모든 클라이언트에 즉시 전파됩니다.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3566160" cy="1417320"/>
          </a:xfrm>
          <a:prstGeom prst="rect">
            <a:avLst/>
          </a:prstGeom>
          <a:solidFill>
            <a:srgbClr val="F7F9FE"/>
          </a:solidFill>
          <a:ln w="12700">
            <a:solidFill>
              <a:srgbClr val="D7E0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514600"/>
            <a:ext cx="73152" cy="1417320"/>
          </a:xfrm>
          <a:prstGeom prst="rect">
            <a:avLst/>
          </a:prstGeom>
          <a:solidFill>
            <a:srgbClr val="3E78F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651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1개 FastAPI 프로세스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 + CLI 동시 서빙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2514600"/>
            <a:ext cx="3566160" cy="1417320"/>
          </a:xfrm>
          <a:prstGeom prst="rect">
            <a:avLst/>
          </a:prstGeom>
          <a:solidFill>
            <a:srgbClr val="F7F9FE"/>
          </a:solidFill>
          <a:ln w="12700">
            <a:solidFill>
              <a:srgbClr val="D7E0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2514600"/>
            <a:ext cx="73152" cy="1417320"/>
          </a:xfrm>
          <a:prstGeom prst="rect">
            <a:avLst/>
          </a:prstGeom>
          <a:solidFill>
            <a:srgbClr val="A50034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651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2가지 모델 경로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26280" y="31546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VoiceLive 네이티브 / gpt-realtime-2 BYOM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2514600"/>
            <a:ext cx="3566160" cy="1417320"/>
          </a:xfrm>
          <a:prstGeom prst="rect">
            <a:avLst/>
          </a:prstGeom>
          <a:solidFill>
            <a:srgbClr val="F7F9FE"/>
          </a:solidFill>
          <a:ln w="12700">
            <a:solidFill>
              <a:srgbClr val="D7E0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2514600"/>
            <a:ext cx="73152" cy="1417320"/>
          </a:xfrm>
          <a:prstGeom prst="rect">
            <a:avLst/>
          </a:prstGeom>
          <a:solidFill>
            <a:srgbClr val="0E8A6B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2651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Pub/Sub 이벤트 버스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66760" y="31546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기기 상태 실시간 브로드캐스트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251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이 문서가 다루는 것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61772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아키텍처 · 클라이언트(브라우저/CLI) 연동 방식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 프로세스 기동 순서 · 세션/핸들러 라이프사이클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gpt-realtime-2 vs Voice Live 네이티브 모델 연결 로직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 이벤트 버스 · 기기(Appliance) 정보 흐름 · 날씨/생활정보 연동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Korea · STU &amp; GBB  |  LG전자 디바이스 개발자 대상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연동 아키텍처 ·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전체 파이프라인 — 클라이언트에서 기기 제어까지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084832" cy="1371600"/>
          </a:xfrm>
          <a:prstGeom prst="rect">
            <a:avLst/>
          </a:prstGeom>
          <a:solidFill>
            <a:srgbClr val="F7F9FE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2084832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브라우저 / CLI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프론트엔드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Python·C# 디바이스 시뮬레이터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542032" y="18745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43200" y="1417320"/>
            <a:ext cx="2084832" cy="1371600"/>
          </a:xfrm>
          <a:prstGeom prst="rect">
            <a:avLst/>
          </a:prstGeom>
          <a:solidFill>
            <a:srgbClr val="F7F9FE"/>
          </a:solidFill>
          <a:ln w="19050">
            <a:solidFill>
              <a:srgbClr val="3E7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1417320"/>
            <a:ext cx="2084832" cy="365760"/>
          </a:xfrm>
          <a:prstGeom prst="rect">
            <a:avLst/>
          </a:prstGeom>
          <a:solidFill>
            <a:srgbClr val="3E78F0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4173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WebSocket 게이트웨이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834640" y="187452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:8000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/session · /ws · /events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28032" y="18745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29200" y="1417320"/>
            <a:ext cx="2084832" cy="1371600"/>
          </a:xfrm>
          <a:prstGeom prst="rect">
            <a:avLst/>
          </a:prstGeom>
          <a:solidFill>
            <a:srgbClr val="F7F9FE"/>
          </a:solidFill>
          <a:ln w="19050">
            <a:solidFill>
              <a:srgbClr val="A5003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1417320"/>
            <a:ext cx="2084832" cy="365760"/>
          </a:xfrm>
          <a:prstGeom prst="rect">
            <a:avLst/>
          </a:prstGeom>
          <a:solidFill>
            <a:srgbClr val="A50034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4173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Voice Live 연결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120640" y="187452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VoiceLive 네이티브 또는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gpt-realtime-2 (BYOM)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114032" y="18745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15200" y="1417320"/>
            <a:ext cx="2084832" cy="1371600"/>
          </a:xfrm>
          <a:prstGeom prst="rect">
            <a:avLst/>
          </a:prstGeom>
          <a:solidFill>
            <a:srgbClr val="F7F9FE"/>
          </a:solidFill>
          <a:ln w="19050">
            <a:solidFill>
              <a:srgbClr val="0E8A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1417320"/>
            <a:ext cx="2084832" cy="365760"/>
          </a:xfrm>
          <a:prstGeom prst="rect">
            <a:avLst/>
          </a:prstGeom>
          <a:solidFill>
            <a:srgbClr val="0E8A6B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0" y="14173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 Calling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406640" y="187452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기기 제어 · 생활정보 조회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디스패치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400032" y="18745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601200" y="1417320"/>
            <a:ext cx="2084832" cy="1371600"/>
          </a:xfrm>
          <a:prstGeom prst="rect">
            <a:avLst/>
          </a:prstGeom>
          <a:solidFill>
            <a:srgbClr val="F7F9FE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01200" y="1417320"/>
            <a:ext cx="2084832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0" y="14173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Living API / 외부 API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692640" y="187452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 Living API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· Google News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3063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경로: 클라이언트가 WebSocket으로 PCM16 오디오를 전송 → 백엔드가 세션별 VoiceLiveHandler를 생성해 Voice Live/gpt-realtime-2와 중계 → 모델이 인식한 의도를 function_call로 전달 → 백엔드가 Living API/외부 API를 호출해 실제 결과를 만들고, 상태 변경은 Pub/Sub으로 모든 연결에 즉시 브로드캐스트합니다.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11247120" cy="1965960"/>
          </a:xfrm>
          <a:prstGeom prst="rect">
            <a:avLst/>
          </a:prstGeom>
          <a:solidFill>
            <a:srgbClr val="EAF1FE"/>
          </a:solidFill>
          <a:ln w="12700">
            <a:solidFill>
              <a:srgbClr val="D7E0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114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엔드포인트 요약 (assistant/app.py · 포트 8000)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4526280"/>
          <a:ext cx="108356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6812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엔드포인트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타입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용도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/session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WebSocket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브라우저 · Python 디바이스: mono / C# 디바이스: 2ch→mono 다운믹스 (channels 파라미터)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/ws/{client_id}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WebSocket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레거시 데모용 클라이언트 채널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/events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WebSocket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WebRTC 모드용 기기 상태 전용 채널 (스냅샷 + 브로드캐스트 구독)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/rtc/connect, /health, /config, /languages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REST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WebRTC SDP 교환 · 헬스체크 · 세션 구성값 · 지원 언어 목록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" name="Text 2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Korea · STU &amp; GBB  |  LG전자 디바이스 개발자 대상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 · BROWSER &amp; CLI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클라이언트 지원 — 브라우저 · CLI 디바이스 시뮬레이터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394960" cy="502920"/>
          </a:xfrm>
          <a:prstGeom prst="rect">
            <a:avLst/>
          </a:prstGeom>
          <a:solidFill>
            <a:srgbClr val="3E78F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브라우저 (React 프론트엔드)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394960" cy="2788920"/>
          </a:xfrm>
          <a:prstGeom prst="rect">
            <a:avLst/>
          </a:prstGeom>
          <a:solidFill>
            <a:srgbClr val="F7F9FE"/>
          </a:solidFill>
          <a:ln w="12700">
            <a:solidFill>
              <a:srgbClr val="D7E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11680"/>
            <a:ext cx="49377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frontend/src/useSession.ts · useVoiceSession.ts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Audio API로 마이크 캡처 → PCM16 인코딩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ws(s)://&lt;host&gt;:8000/session 접속, channels 생략(mono)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 모드는 useWebRTCSession.ts + /rtc/connect 사용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AudioInfoPanel · TransportToggle로 전송방식/오디오 상태 표시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1325880"/>
            <a:ext cx="5394960" cy="502920"/>
          </a:xfrm>
          <a:prstGeom prst="rect">
            <a:avLst/>
          </a:prstGeom>
          <a:solidFill>
            <a:srgbClr val="A50034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13258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 — Python / C# 디바이스 시뮬레이터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80760" y="1828800"/>
            <a:ext cx="5394960" cy="2788920"/>
          </a:xfrm>
          <a:prstGeom prst="rect">
            <a:avLst/>
          </a:prstGeom>
          <a:solidFill>
            <a:srgbClr val="F7F9FE"/>
          </a:solidFill>
          <a:ln w="12700">
            <a:solidFill>
              <a:srgbClr val="D7E0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011680"/>
            <a:ext cx="49377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devicesim/python: uv 관리 CLI, device-emulator 엔트리포인트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devicesim/csharp: .NET 8, System.CommandLine, ALSA/WASAPI 캡처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예: dotnet run -- --url http://&lt;host&gt;:8000 --channels 2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예: uv run device-emulator --host ws://&lt;host&gt;:8000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--audio-source/--audio-out 파일 백엔드로 CI 헤드리스 테스트 지원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800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공통점: 두 클라이언트 모두 동일한 /session 엔드포인트와 프레이밍 규약(binary=PCM16 오디오, text=JSON 제어)을 공유하므로 백엔드는 클라이언트 종류를 구분하지 않고 동일한 VoiceLiveHandler로 처리합니다.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Korea · STU &amp; GBB  |  LG전자 디바이스 개발자 대상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프로세스 기동 · STARTUP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백엔드 프로세스 기동 순서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3441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start.sh 실행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069080" y="1344168"/>
            <a:ext cx="7635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backend/.env 확인 → uv sync --extra dev → uvicorn assistant.app:app --host 0.0.0.0 --port 8000 백그라운드 기동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08660" y="1874520"/>
            <a:ext cx="0" cy="457200"/>
          </a:xfrm>
          <a:prstGeom prst="line">
            <a:avLst/>
          </a:prstGeom>
          <a:noFill/>
          <a:ln w="19050">
            <a:solidFill>
              <a:srgbClr val="D7E0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3317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3042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앱 생성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069080" y="2304288"/>
            <a:ext cx="7635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모듈 로드 시 CORSMiddleware(allow_origins="*") 등록, lifespan 컨텍스트 매니저 연결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08660" y="2834640"/>
            <a:ext cx="0" cy="457200"/>
          </a:xfrm>
          <a:prstGeom prst="line">
            <a:avLst/>
          </a:prstGeom>
          <a:noFill/>
          <a:ln w="19050">
            <a:solidFill>
              <a:srgbClr val="D7E0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291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32644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lifespan 시작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069080" y="3264408"/>
            <a:ext cx="7635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자격증명(_get_credential)은 지연 생성만 준비 — 기기 목록 갱신은 서버 기동 시가 아니라 /session 접속 시 수행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08660" y="3794760"/>
            <a:ext cx="0" cy="457200"/>
          </a:xfrm>
          <a:prstGeom prst="line">
            <a:avLst/>
          </a:prstGeom>
          <a:noFill/>
          <a:ln w="19050">
            <a:solidFill>
              <a:srgbClr val="D7E0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251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42245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요청 서빙 시작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069080" y="4224528"/>
            <a:ext cx="7635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/health,/config,/languages REST 및 /session,/ws,/events WebSocket 라우트가 활성화되고 정적 프론트엔드 파일 마운트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5257800"/>
            <a:ext cx="11247120" cy="1051560"/>
          </a:xfrm>
          <a:prstGeom prst="rect">
            <a:avLst/>
          </a:prstGeom>
          <a:solidFill>
            <a:srgbClr val="141A3C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5349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7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명령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56235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backend &amp;&amp; uv run uvicorn assistant.app:app --host 0.0.0.0 --port 8000   (repo 루트에서는 ./start.sh 로 백엔드+프론트엔드 동시 기동)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Korea · STU &amp; GBB  |  LG전자 디바이스 개발자 대상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핸들러 라이프사이클 · SESSION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세션 접속 → 핸들러 시작 흐름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084832" cy="1417320"/>
          </a:xfrm>
          <a:prstGeom prst="rect">
            <a:avLst/>
          </a:prstGeom>
          <a:solidFill>
            <a:srgbClr val="F7F9FE"/>
          </a:solidFill>
          <a:ln w="12700">
            <a:solidFill>
              <a:srgbClr val="3E7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490472"/>
            <a:ext cx="186537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 WS 연결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/session (channels=1|2)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42032" y="18973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0" y="1417320"/>
            <a:ext cx="2084832" cy="1417320"/>
          </a:xfrm>
          <a:prstGeom prst="rect">
            <a:avLst/>
          </a:prstGeom>
          <a:solidFill>
            <a:srgbClr val="F7F9FE"/>
          </a:solidFill>
          <a:ln w="12700">
            <a:solidFill>
              <a:srgbClr val="3E7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52928" y="1490472"/>
            <a:ext cx="186537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기기 목록 갱신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refresh_appliances()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reload_hub()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28032" y="18973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0" y="1417320"/>
            <a:ext cx="2084832" cy="1417320"/>
          </a:xfrm>
          <a:prstGeom prst="rect">
            <a:avLst/>
          </a:prstGeom>
          <a:solidFill>
            <a:srgbClr val="F7F9FE"/>
          </a:solidFill>
          <a:ln w="12700">
            <a:solidFill>
              <a:srgbClr val="3E7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38928" y="1490472"/>
            <a:ext cx="186537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스냅샷 전송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appliance_snapshot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status:listening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14032" y="18973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0" y="1417320"/>
            <a:ext cx="2084832" cy="1417320"/>
          </a:xfrm>
          <a:prstGeom prst="rect">
            <a:avLst/>
          </a:prstGeom>
          <a:solidFill>
            <a:srgbClr val="F7F9FE"/>
          </a:solidFill>
          <a:ln w="12700">
            <a:solidFill>
              <a:srgbClr val="3E7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24928" y="1490472"/>
            <a:ext cx="186537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_start_session()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SessionConfig 생성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(.env ⊕ 클라이언트 값)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00032" y="18973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01200" y="1417320"/>
            <a:ext cx="2084832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3E7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10928" y="1490472"/>
            <a:ext cx="186537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VoiceLiveHandler.start()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asyncio.create_task(_run())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108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_run() 내부: 모델 연결 이후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474720"/>
            <a:ext cx="11247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mode에 따라 connect(agent_config=...) 또는 connect(model=, profile=...) 선택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connect_done 이후 _configure_session()으로 session.update 전송 (SESSION_UPDATED 대기)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_mark_audio_ready()로 버퍼링된 오디오 flush 후 _process_events()로 이벤트 루프 진입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function_call 이벤트 수신 시 dispatch_tool()로 Hub/LifestyleInfoSubAgent 호출 → 결과를 conversation에 반영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166360"/>
            <a:ext cx="11247120" cy="1051560"/>
          </a:xfrm>
          <a:prstGeom prst="rect">
            <a:avLst/>
          </a:prstGeom>
          <a:solidFill>
            <a:srgbClr val="EAF1FE"/>
          </a:solidFill>
          <a:ln w="12700">
            <a:solidFill>
              <a:srgbClr val="D7E0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530352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종료 시: stop()이 이벤트 태스크를 취소하고 pending 오디오 큐/연결을 정리 → _cleanup_client()에서 _handlers 딕셔너리에서 제거, outbound Pub/Sub 큐도 unsubscribe() 처리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Korea · STU &amp; GBB  |  LG전자 디바이스 개발자 대상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연결 · DUAL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모델 이중 지원 — Voice Live 네이티브 vs gpt-realtime-2 (BYOM)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byom_profile_for_model(model)이 모델명을 보고 연결 방식을 자동 결정합니다. gpt-realtime-2처럼 자체 배포된 Azure OpenAI Realtime 모델은 Voice Live의 BYOM(Bring Your Own Model) 프로필로 연결해야 Azure 신경망 음성을 그대로 사용할 수 있습니다.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5394960" cy="457200"/>
          </a:xfrm>
          <a:prstGeom prst="rect">
            <a:avLst/>
          </a:prstGeom>
          <a:solidFill>
            <a:srgbClr val="3E78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Voice Live 네이티브 모델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539496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3977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연결 방식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233"/>
                          </a:solidFill>
                        </a:rPr>
                        <a:t>connect(model=..., api_version="2026-01-01-preview")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profile 파라미터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233"/>
                          </a:solidFill>
                        </a:rPr>
                        <a:t>없음 (query 미전달)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인증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233"/>
                          </a:solidFill>
                        </a:rPr>
                        <a:t>API Key(AzureKeyCredential) 또는 DefaultAzureCredential 공용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대표 모델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233"/>
                          </a:solidFill>
                        </a:rPr>
                        <a:t>gpt-realtime 등 Voice Live 배포 모델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080760" y="2057400"/>
            <a:ext cx="5394960" cy="457200"/>
          </a:xfrm>
          <a:prstGeom prst="rect">
            <a:avLst/>
          </a:prstGeom>
          <a:solidFill>
            <a:srgbClr val="A50034"/>
          </a:solidFill>
          <a:ln/>
        </p:spPr>
      </p:sp>
      <p:sp>
        <p:nvSpPr>
          <p:cNvPr id="9" name="Text 6"/>
          <p:cNvSpPr/>
          <p:nvPr/>
        </p:nvSpPr>
        <p:spPr>
          <a:xfrm>
            <a:off x="6263640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gpt-realtime-2 (BYOM)</a:t>
            </a:r>
            <a:endParaRPr lang="en-US" sz="14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2514600"/>
          <a:ext cx="539496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3977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연결 방식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233"/>
                          </a:solidFill>
                        </a:rPr>
                        <a:t>connect(model="gpt-realtime-2", query={profile: byom-azure-openai-realtime})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profile 파라미터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233"/>
                          </a:solidFill>
                        </a:rPr>
                        <a:t>BYOM_PROFILE = "byom-azure-openai-realtime", api_version 2026-04-10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인증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233"/>
                          </a:solidFill>
                        </a:rPr>
                        <a:t>Entra 인증 강제 — API Key 자격증명이면 DefaultAzureCredential로 즉시 전환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대표 모델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233"/>
                          </a:solidFill>
                        </a:rPr>
                        <a:t>gpt-realtime-2 (자체 배포 Azure OpenAI Realtime)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57200" y="5074920"/>
            <a:ext cx="11247120" cy="1143000"/>
          </a:xfrm>
          <a:prstGeom prst="rect">
            <a:avLst/>
          </a:prstGeom>
          <a:solidFill>
            <a:srgbClr val="141A3C"/>
          </a:solidFill>
          <a:ln/>
        </p:spPr>
      </p:sp>
      <p:sp>
        <p:nvSpPr>
          <p:cNvPr id="12" name="Text 8"/>
          <p:cNvSpPr/>
          <p:nvPr/>
        </p:nvSpPr>
        <p:spPr>
          <a:xfrm>
            <a:off x="685800" y="52120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위치: thinq_agent/byom.py (프로필/API 버전 정의) · assistant/voice_handler.py:_run() (연결 분기 로직) — config.mode=="agent"이면 별도로 agent_config 기반 connect()를 사용하며, 도구/모델은 서버측 에이전트 정의를 따릅니다.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Korea · STU &amp; GBB  |  LG전자 디바이스 개발자 대상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이벤트 버스 · PUB/SUB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Pub/Sub 이벤트 버스 — 기기 상태 실시간 브로드캐스트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thinq_agent/events.py가 프로세스 전역 in-memory Pub/Sub을 구현합니다. 별도 메시지 브로커(Redis/Kafka) 없이 asyncio.Queue 집합으로 단일 프로세스 내 다중 WebSocket 연결에 상태 변경을 동시에 전파합니다.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3291840" cy="594360"/>
          </a:xfrm>
          <a:prstGeom prst="rect">
            <a:avLst/>
          </a:prstGeom>
          <a:solidFill>
            <a:srgbClr val="F7F9FE"/>
          </a:solidFill>
          <a:ln w="12700">
            <a:solidFill>
              <a:srgbClr val="3E7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48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Hub.on_change()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77640" y="21031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SubAgentHub가 상태 변경 시 콜백 호출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37360" y="2670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291840" cy="594360"/>
          </a:xfrm>
          <a:prstGeom prst="rect">
            <a:avLst/>
          </a:prstGeom>
          <a:solidFill>
            <a:srgbClr val="F7F9FE"/>
          </a:solidFill>
          <a:ln w="12700">
            <a:solidFill>
              <a:srgbClr val="3E7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71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messages.appliance_update()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77640" y="292608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내용을 JSON 메시지로 직렬화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37360" y="34930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3291840" cy="594360"/>
          </a:xfrm>
          <a:prstGeom prst="rect">
            <a:avLst/>
          </a:prstGeom>
          <a:solidFill>
            <a:srgbClr val="F7F9FE"/>
          </a:solidFill>
          <a:ln w="12700">
            <a:solidFill>
              <a:srgbClr val="3E7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94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_broadcast()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77640" y="37490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_subscribers 집합의 모든 큐에 put_nowait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37360" y="43159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3291840" cy="594360"/>
          </a:xfrm>
          <a:prstGeom prst="rect">
            <a:avLst/>
          </a:prstGeom>
          <a:solidFill>
            <a:srgbClr val="F7F9FE"/>
          </a:solidFill>
          <a:ln w="12700">
            <a:solidFill>
              <a:srgbClr val="3E7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617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각 WS 연결의 pump_outbound_json()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77640" y="45720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자신의 큐에서 get() → send_text()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532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구독/해제 규칙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58064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subscribe() → maxsize=200 큐 생성 후 등록, unsubscribe() → 집합에서 제거. 세션은 스냅샷 전송 전에 먼저 구독해 그 사이 발생한 업데이트 유실을 방지하며, 연결 종료 finally 블록에서 반드시 unsubscribe 합니다. (/session, /events 두 엔드포인트가 동일 브로커 공유)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Korea · STU &amp; GBB  |  LG전자 디바이스 개발자 대상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흐름 · APPLIANCE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기기(Appliance) 정보 흐름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84832" cy="1371600"/>
          </a:xfrm>
          <a:prstGeom prst="rect">
            <a:avLst/>
          </a:prstGeom>
          <a:solidFill>
            <a:srgbClr val="F7F9FE"/>
          </a:solidFill>
          <a:ln w="15240">
            <a:solidFill>
              <a:srgbClr val="0E8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81328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appliances.json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시드 데이터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(기기 목록 스냅샷)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42032" y="18288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0" y="1371600"/>
            <a:ext cx="2084832" cy="1371600"/>
          </a:xfrm>
          <a:prstGeom prst="rect">
            <a:avLst/>
          </a:prstGeom>
          <a:solidFill>
            <a:srgbClr val="F7F9FE"/>
          </a:solidFill>
          <a:ln w="15240">
            <a:solidFill>
              <a:srgbClr val="0E8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1481328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SubAgentHub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34640" y="192024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상태/용량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 + on_change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28032" y="18288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0" y="1371600"/>
            <a:ext cx="2084832" cy="1371600"/>
          </a:xfrm>
          <a:prstGeom prst="rect">
            <a:avLst/>
          </a:prstGeom>
          <a:solidFill>
            <a:srgbClr val="F7F9FE"/>
          </a:solidFill>
          <a:ln w="15240">
            <a:solidFill>
              <a:srgbClr val="0E8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481328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LivingApiHubWrapper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192024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control/monitor 호출을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API로 위임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14032" y="18288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0" y="1371600"/>
            <a:ext cx="2084832" cy="1371600"/>
          </a:xfrm>
          <a:prstGeom prst="rect">
            <a:avLst/>
          </a:prstGeom>
          <a:solidFill>
            <a:srgbClr val="F7F9FE"/>
          </a:solidFill>
          <a:ln w="15240">
            <a:solidFill>
              <a:srgbClr val="0E8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1481328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Living API Controller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06640" y="192024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aiohttp로 LG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API 실호출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400032" y="18288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601200" y="1371600"/>
            <a:ext cx="2084832" cy="1371600"/>
          </a:xfrm>
          <a:prstGeom prst="rect">
            <a:avLst/>
          </a:prstGeom>
          <a:solidFill>
            <a:srgbClr val="F7F9FE"/>
          </a:solidFill>
          <a:ln w="15240">
            <a:solidFill>
              <a:srgbClr val="0E8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0" y="1481328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Pub/Sub 브로드캐스트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92640" y="1920240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appliance_update →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WS 클라이언트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3063240"/>
            <a:ext cx="11247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접속(/session)마다 refresh_appliances()로 Living API 프록시에서 최신 목록을 재조회 → appliances.json 갱신 → reload_hub()로 Hub 재생성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도구: list_appliances(목록 조회) · monitor_appliance_state(상태 조회, 실제 Living API 호출) · control_appliance(제어, 실제 Living API 호출)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제어 성공 시 SubAgentHub.on_change 콜백 → Pub/Sub 브로드캐스트 → 같은 화면을 보는 다른 클라이언트(예: 모니터링 대시보드)도 즉시 갱신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526280"/>
            <a:ext cx="11247120" cy="1691640"/>
          </a:xfrm>
          <a:prstGeom prst="rect">
            <a:avLst/>
          </a:prstGeom>
          <a:solidFill>
            <a:srgbClr val="141A3C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계층 구조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498348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Hub(Protocol) ← SubAgentHub(appliances.json 로컬 시뮬레이션) ← LivingApiHubWrapper(inner Hub + ApplianceLivingApiController + LivingApiAppliance 리스트로 실제 Living API 위임). thinq_agent/events.py의 get_hub()가 프로세스 공유 싱글턴으로 관리하며 assistant/voice_handler.py, app.py가 이를 공유합니다.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Korea · STU &amp; GBB  |  LG전자 디바이스 개발자 대상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흐름 · WEATHER &amp; LIFESTYLE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날씨 · 생활정보 흐름 — 두 갈래 구현이 공존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코드베이스에는 날씨 정보를 제공하는 두 개의 서로 다른 도구가 존재합니다. 하나는 데모용 목(mock) 구현이고, 다른 하나는 실제 외부 API를 호출하는 프로덕션 경로입니다. 두 도구 모두 Function Calling으로 모델에 노출됩니다.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394960" cy="457200"/>
          </a:xfrm>
          <a:prstGeom prst="rect">
            <a:avLst/>
          </a:prstGeom>
          <a:solidFill>
            <a:srgbClr val="5E6A8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011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get_current_weather (레거시 · 목 데이터)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5394960" cy="2331720"/>
          </a:xfrm>
          <a:prstGeom prst="rect">
            <a:avLst/>
          </a:prstGeom>
          <a:solidFill>
            <a:srgbClr val="F7F9FE"/>
          </a:solidFill>
          <a:ln w="12700">
            <a:solidFill>
              <a:srgbClr val="D7E0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651760"/>
            <a:ext cx="4937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assistant/voice_handler.py — VoiceLiveHandler.get_current_weather()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위치(location)만 파싱, 온도/습도/풍속은 하드코딩 반환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네트워크 호출 없음 — /ws 레거시 클라이언트 데모 fallback용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available_functions 딕셔너리에 get_current_time과 함께 등록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80760" y="2011680"/>
            <a:ext cx="5394960" cy="457200"/>
          </a:xfrm>
          <a:prstGeom prst="rect">
            <a:avLst/>
          </a:prstGeom>
          <a:solidFill>
            <a:srgbClr val="0E8A6B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2011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get_lifestyle_info (실제 API 연동)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80760" y="2468880"/>
            <a:ext cx="5394960" cy="2331720"/>
          </a:xfrm>
          <a:prstGeom prst="rect">
            <a:avLst/>
          </a:prstGeom>
          <a:solidFill>
            <a:srgbClr val="F7F9FE"/>
          </a:solidFill>
          <a:ln w="12700">
            <a:solidFill>
              <a:srgbClr val="D7E0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651760"/>
            <a:ext cx="4937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thinq_agent/lifestyle.py — LifestyleInfoSubAgent.get_lifestyle_info(topic)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날씨: Open-Meteo API(api.open-meteo.com/v1/forecast) 실시간 호출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뉴스: Google News RSS 파싱 (defusedxml로 안전하게 XML 처리)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CustomerProfile(지역·위경도·타임존) 기준, topic=weather/news/both 지원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dispatch_tool()을 통해 model/agent 세션의 정식 tool로 노출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50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두 구현의 상세 비교는 부록 A3 참고 — 신규 개발 시 get_lifestyle_info 경로 사용을 권장합니다.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Korea · STU &amp; GBB  |  LG전자 디바이스 개발자 대상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디스패치 · TOOLS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 Calling 도구 요약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931920"/>
                <a:gridCol w="201168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도구명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정의 위치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실제 API 호출 여부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list_appliances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thinq_agent/tools.py → hub.list_appliances()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Hub 메모리 조회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등록된 전체 기기 목록 반환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monitor_appliance_state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thinq_agent/tools.py → hub.monitor_appliance_state()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✅ Living API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기기 상태/센서값 실시간 조회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control_appliance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thinq_agent/tools.py → hub.control_appliance()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✅ Living API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전원/모드 등 기기 제어 실행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get_lifestyle_info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thinq_agent/lifestyle.py (LifestyleInfoSubAgent)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✅ Open-Meteo / Google News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날씨·뉴스 등 생활정보 조회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get_current_time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assistant/voice_handler.py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로컬 계산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현재 시각/날짜 반환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get_current_weather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assistant/voice_handler.py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❌ 목 데이터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레거시 데모용 하드코딩 날씨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091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디스패치 진입점: assistant/voice_handler.py의 _execute_function_call() → thinq_agent/tools.py의 dispatch_tool(hub, name, arguments, lifestyle_agent) → 각 도구별 Hub/SubAgent 메서드 호출 → 결과를 conversation.item.create로 모델에 다시 전달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Korea · STU &amp; GBB  |  LG전자 디바이스 개발자 대상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요약 · CHECKLIST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아키텍처 체크리스트 &amp; 다음 단계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56032" cy="256032"/>
          </a:xfrm>
          <a:prstGeom prst="ellipse">
            <a:avLst/>
          </a:prstGeom>
          <a:solidFill>
            <a:srgbClr val="0E8A6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3716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브라우저·CLI 클라이언트는 동일한 /session 프레이밍 규약을 공유 — 신규 클라이언트 추가 시 재사용 가능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56032" cy="256032"/>
          </a:xfrm>
          <a:prstGeom prst="ellipse">
            <a:avLst/>
          </a:prstGeom>
          <a:solidFill>
            <a:srgbClr val="0E8A6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03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0574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gpt-realtime-2는 반드시 BYOM 프로필 + Entra 인증 경로로 연결 — API Key 자격증명 재사용 불가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256032" cy="256032"/>
          </a:xfrm>
          <a:prstGeom prst="ellipse">
            <a:avLst/>
          </a:prstGeom>
          <a:solidFill>
            <a:srgbClr val="0E8A6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788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7432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기기 정보는 세션 접속마다 Living API에서 재동기화 — 프로세스 기동 시점이 아님에 유의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256032" cy="256032"/>
          </a:xfrm>
          <a:prstGeom prst="ellipse">
            <a:avLst/>
          </a:prstGeom>
          <a:solidFill>
            <a:srgbClr val="0E8A6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474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34290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Pub/Sub은 단일 프로세스 in-memory 구조 — 멀티 인스턴스/오토스케일 시 별도 브로커(Redis 등) 도입 검토 필요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256032" cy="256032"/>
          </a:xfrm>
          <a:prstGeom prst="ellipse">
            <a:avLst/>
          </a:prstGeom>
          <a:solidFill>
            <a:srgbClr val="0E8A6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160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41148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get_current_weather(목 데이터)는 get_lifestyle_info로 일원화 권장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5349240"/>
            <a:ext cx="11247120" cy="960120"/>
          </a:xfrm>
          <a:prstGeom prst="rect">
            <a:avLst/>
          </a:prstGeom>
          <a:solidFill>
            <a:srgbClr val="141A3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486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페이지부터 부록 — Voice Live 네이티브 vs gpt-realtime-2(BYOM), 브라우저 vs CLI, 날씨 정보 도구, VAD 방식 네 가지 비교표를 수록합니다.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Korea · STU &amp; GBB  |  LG전자 디바이스 개발자 대상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E7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부록 — 유사 개념 비교표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모델 연결: Voice Live 네이티브 vs gpt-realtime-2(BYOM)   ·   A2 클라이언트: 브라우저 vs CLI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날씨 정보 도구: get_current_weather vs get_lifestyle_info   ·   A4 턴 감지(VAD): server vs azure_semantic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Korea · STU &amp; GBB  |  LG전자 디바이스 개발자 대상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 A1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A1. 모델 연결 비교 — 네이티브 vs gpt-realtime-2(BYOM)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57200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Voice Live 네이티브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gpt-realtime-2 (BYOM)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3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연결 함수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connect(model=..., api_version="2026-01-01-preview")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connect(model="gpt-realtime-2", query={profile:...}, api_version="2026-04-10")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profile 파라미터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미사용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byom-azure-openai-realtime (필수)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인증 방식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API Key 또는 DefaultAzureCredential 공용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DefaultAzureCredential(Entra) 강제 — API Key credential이면 자동 전환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음성 엔진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Voice Live 관리형 음성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자체 배포 모델이지만 Azure 신경망 음성(예: ko-KR-SunHiNeural) 유지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대표 코드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thinq_agent/byom.py::byom_profile_for_model() → None 반환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동일 함수가 BYOM_PROFILE 반환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연결 지연 특성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SDK connect() 핸드셰이크가 전체 첫 응답 지연의 대부분(약 58%) 차지 — 재사용/프리웜 권장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동일 — BYOM 경로도 SDK connect 핸드셰이크 비용 동일하게 적용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760720"/>
            <a:ext cx="11247120" cy="594360"/>
          </a:xfrm>
          <a:prstGeom prst="rect">
            <a:avLst/>
          </a:prstGeom>
          <a:solidFill>
            <a:srgbClr val="EAF1FE"/>
          </a:solidFill>
          <a:ln w="12700">
            <a:solidFill>
              <a:srgbClr val="D7E0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57607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참고: agent 모드(config.mode=="agent")는 이 표와 별개로 connect(agent_config=...)를 사용하며 도구·모델이 서버측 에이전트 정의를 따릅니다.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Korea · STU &amp; GBB  |  LG전자 디바이스 개발자 대상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 A2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A2. 클라이언트 비교 — 브라우저 vs CLI 디바이스 시뮬레이터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663440"/>
                <a:gridCol w="4663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브라우저 (React)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CLI (Python / C#)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3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구현 위치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frontend/src/useSession.ts, useVoiceSession.ts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devicesim/python (uv), devicesim/csharp (.NET 8)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오디오 캡처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Web Audio API (브라우저 마이크)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ALSA(Linux) / WASAPI(Windows) / 파일 / 합성 신호 폴백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채널 구성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mono 고정 (channels 파라미터 생략)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Python: mono / C#: 2ch 캡처 후 서버가 mono로 다운믹스(channels=2)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전송 모드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WebSocket(/session) 또는 WebRTC(/rtc/connect)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WebSocket(/session) 전용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실행 명령 예시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npm run dev (Vite :5173) 후 브라우저 접속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dotnet run -- --url http://&lt;host&gt;:8000 --channels 2 / uv run device-emulator --host ws://&lt;host&gt;:8000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테스트 지원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Vitest 단위테스트 (useSession.test.ts 등)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--audio-source/--audio-out 파일 백엔드로 CI 헤드리스 테스트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760720"/>
            <a:ext cx="11247120" cy="594360"/>
          </a:xfrm>
          <a:prstGeom prst="rect">
            <a:avLst/>
          </a:prstGeom>
          <a:solidFill>
            <a:srgbClr val="EAF1FE"/>
          </a:solidFill>
          <a:ln w="12700">
            <a:solidFill>
              <a:srgbClr val="D7E0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57607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규약: binary 프레임 = PCM16 오디오, text 프레임 = JSON 제어 메시지 — 클라이언트 종류와 무관하게 백엔드의 VoiceLiveHandler가 동일하게 처리합니다.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Korea · STU &amp; GBB  |  LG전자 디바이스 개발자 대상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 A3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A3. 날씨 정보 도구 비교 — 목데이터 vs 실 API 연동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663440"/>
                <a:gridCol w="4663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get_current_weather (레거시)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6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get_lifestyle_info (실 API)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정의 위치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assistant/voice_handler.py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thinq_agent/lifestyle.py (LifestyleInfoSubAgent)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데이터 소스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하드코딩 (temperature=22°C, condition=Sunny 고정)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Open-Meteo API (api.open-meteo.com/v1/forecast) 실시간 호출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부가 기능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없음 (날씨만)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뉴스(Google News RSS)까지 topic 파라미터로 함께 조회 가능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위치 처리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location 문자열 그대로 표시만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CustomerProfile(지역·위경도·타임존) 기반 지오코딩된 좌표 사용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등록 경로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available_functions 딕셔너리 (레거시 /ws 데모 fallback)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dispatch_tool()을 통한 정식 Function Calling 경로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신뢰도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데모/테스트 목적 — 실제 값 아님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프로덕션 사용 가능 — 외부 API 장애 시 예외 전파 고려 필요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760720"/>
            <a:ext cx="11247120" cy="594360"/>
          </a:xfrm>
          <a:prstGeom prst="rect">
            <a:avLst/>
          </a:prstGeom>
          <a:solidFill>
            <a:srgbClr val="FBEAF0"/>
          </a:solidFill>
          <a:ln w="12700">
            <a:solidFill>
              <a:srgbClr val="D7E0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57607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50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권장사항: 신규 세션/에이전트 구성에서는 get_lifestyle_info를 사용하고, get_current_weather는 레거시 /ws 데모 경로 정리 시 함께 제거를 검토합니다.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Korea · STU &amp; GBB  |  LG전자 디바이스 개발자 대상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 A4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A4. 턴 감지(VAD) 비교 — server_vad vs azure_semantic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663440"/>
                <a:gridCol w="4663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server_vad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6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azure_semantic (기본값)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판단 기준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음향적 무음 구간 길이(음량 기반)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발화 의미 완결성까지 고려한 시맨틱 판단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튜닝 파라미터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threshold · prefix_padding_ms · silence_duration_ms 직접 조정 가능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Azure 관리형 — 별도 튜닝 파라미터 없음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코드 매핑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voice_handler.py VAD_TYPES["server"] = ServerVad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VAD_TYPES["azure_semantic"] = AzureSemanticVad (en/multilingual 변종도 존재)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기본 설정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os.getenv("VOICELIVE_VAD_TYPE")로 명시 설정 시에만 사용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VOICELIVE_VAD_TYPE 미설정 시 기본 적용 (현재 운영 기본값)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장단점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예측 가능하고 세밀한 튜닝 가능하나 잘림/지연 트레이드오프 존재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자연스러운 턴 종료 감지, 튜닝 자유도는 상대적으로 낮음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760720"/>
            <a:ext cx="11247120" cy="594360"/>
          </a:xfrm>
          <a:prstGeom prst="rect">
            <a:avLst/>
          </a:prstGeom>
          <a:solidFill>
            <a:srgbClr val="EAF1FE"/>
          </a:solidFill>
          <a:ln w="12700">
            <a:solidFill>
              <a:srgbClr val="D7E0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57607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 방법: 클라이언트가 세션 시작 시 vad_type 값을 명시(예: "server")하거나, 백엔드 .env의 VOICELIVE_VAD_TYPE으로 전역 기본값을 변경할 수 있습니다.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Korea · STU &amp; GBB  |  LG전자 디바이스 개발자 대상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LGE ThinQ Voice Live 시스템 아키텍처</dc:title>
  <dc:subject>PptxGenJS Presentation</dc:subject>
  <dc:creator>Microsoft Korea · STU &amp; GBB</dc:creator>
  <cp:lastModifiedBy>Microsoft Korea · STU &amp; GBB</cp:lastModifiedBy>
  <cp:revision>1</cp:revision>
  <dcterms:created xsi:type="dcterms:W3CDTF">2026-07-06T22:17:09Z</dcterms:created>
  <dcterms:modified xsi:type="dcterms:W3CDTF">2026-07-06T22:17:09Z</dcterms:modified>
</cp:coreProperties>
</file>