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 ·  STU &amp; GBB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Voice Live 디바이스 에뮬레이터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· C# 헤드리스 디바이스 시뮬레이터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· 데이터플로우 · 구현 · 테스트 · 도입 · 검증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4754880"/>
            <a:ext cx="4114800" cy="0"/>
          </a:xfrm>
          <a:prstGeom prst="line">
            <a:avLst/>
          </a:prstGeom>
          <a:noFill/>
          <a:ln w="25400">
            <a:solidFill>
              <a:srgbClr val="0E74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937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</a:t>
            </a:r>
            <a:pPr indent="0" marL="0">
              <a:buNone/>
            </a:pPr>
            <a:r>
              <a:rPr lang="en-US" sz="140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LG전자 ThinQ AI 엔지니어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28523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작성: </a:t>
            </a:r>
            <a:pPr indent="0" marL="0">
              <a:buNone/>
            </a:pPr>
            <a:r>
              <a:rPr lang="en-US" sz="140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배경과 목표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헤드리스 에뮬레이터가 필요한가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08760" y="24597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2825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에뮬레이터 · 백엔드 · Azure VoiceLive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28269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08760" y="33009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WSS 계약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08760" y="36667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/session 엔드포인트 · 오디오 포맷 · 이벤트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" y="412394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08760" y="4142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데이터플로우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5079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업링크 / 다운링크 시퀀스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96519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08760" y="4983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구현: Python &amp; C#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0876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uv/asyncio · 네이티브 C 스타일 · P/Invoke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55080" y="16002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23760" y="1618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지원 매트릭스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19842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Linux/ARM · Windows · macOS · CI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355080" y="2441448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223760" y="24597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채널: 왜 모노인가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2825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“2채널” 의미 비교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55080" y="3282696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7223760" y="33009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에코(AEC) 처리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223760" y="36667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AEC 부재 환경의 반이중 억제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55080" y="4123944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223760" y="41422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전략 &amp; 라이브 검증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45079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TDD · 프로덕션 스모크 테스트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55080" y="4965192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223760" y="4983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가이드 &amp; 다음 단계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2376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ON 적용 로드맵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BACKGROUND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배경과 목표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94960" cy="21488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64008" cy="2148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221992"/>
            <a:ext cx="499262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ThinQ ON 하드웨어 확보 전에 end-to-end 음성 경로를 검증해야 한다.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프론트엔드(/frontend)가 하던 일 — 마이크 입력 → WSS 스트리밍 → 스피커 재생 — 을 화면 없이 재현.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디바이스에는 마이크와 스피커만 존재한다는 전제(no screen).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21488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00200"/>
            <a:ext cx="64008" cy="2148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방식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2221992"/>
            <a:ext cx="4992624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언어 변형으로 구현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— 레퍼런스/개발용, uv 기반 신속 반복.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— 네이티브 C 지향, ARM Cortex-A53 + 2×MEMS 타깃 근접.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프로덕션 URL 대상 실제 스모크 테스트.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182880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886200"/>
            <a:ext cx="64008" cy="1828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05079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원칙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" y="4507992"/>
            <a:ext cx="10479024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즉시 스트리밍 — WebSocket 연결과 동시에 오디오 스트리밍 시작(핸드셰이크 불필요).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변경 최소화 — 배포된 assistant/app.py 를 그대로 사용.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TDD — 공개 인터페이스(seam) 단위로 테스트 우선 작성. 한국어 주석 충실화.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2834640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20240"/>
            <a:ext cx="2834640" cy="457200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 에뮬레이터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4871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/ C#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캡처 → 업링크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다운링크 → 스피커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IAudioCapture / IAudioPlayer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94760" y="1920240"/>
            <a:ext cx="2834640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1920240"/>
            <a:ext cx="2834640" cy="457200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WSS /session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904488" y="24871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wss://&lt;host&gt;/session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977640" y="288036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바이너리 프레이밍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PCM16 / 24kHz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 이벤트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1920240"/>
            <a:ext cx="2834640" cy="2377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1920240"/>
            <a:ext cx="2834640" cy="457200"/>
          </a:xfrm>
          <a:prstGeom prst="rect">
            <a:avLst/>
          </a:prstGeom>
          <a:solidFill>
            <a:srgbClr val="1F2933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965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059168" y="2487168"/>
            <a:ext cx="2615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assistant/app.py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132320" y="288036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 verbatim 전달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?channels=2 안전망 다운믹스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appliance/transcript 이벤트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104120" y="1920240"/>
            <a:ext cx="1828800" cy="2377440"/>
          </a:xfrm>
          <a:prstGeom prst="rect">
            <a:avLst/>
          </a:prstGeom>
          <a:solidFill>
            <a:srgbClr val="1F2933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104120" y="1920240"/>
            <a:ext cx="1828800" cy="4572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101041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VoiceLive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0213848" y="248716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Realtime API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287000" y="2880360"/>
            <a:ext cx="1508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PCM16 모노 입력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PCM16 모노 출력</a:t>
            </a:r>
            <a:endParaRPr lang="en-US" sz="10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STT · LLM · TTS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74720" y="2788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629400" y="2788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784080" y="27889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" y="48920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양방향 오디오는 단일 WebSocket 위에서 동시(full-duplex)로 흐른다. 업링크(마이크)와 다운링크(스피커)는 독립된 루프로 병렬 처리된다.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PROTOCOL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WSS 계약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94960" cy="19659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64008" cy="19659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&amp; 세션 시작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221992"/>
            <a:ext cx="49926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wss://&lt;host&gt;/session — 바이너리 프레이밍.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자동 시작: appliance_snapshot → status:listening.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핸드셰이크 불필요 → 연결 즉시 스트리밍 시작.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19659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00200"/>
            <a:ext cx="64008" cy="19659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포맷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2221992"/>
            <a:ext cx="49926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업링크: PCM16 / 24kHz / 모노 (서버가 VoiceLive로 전달).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다운링크 바이너리: PCM16 / 24kHz / 모노 → 스피커.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2채널 캡처 시 디바이스가 전송 전 모노로 다운믹스.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39496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03320"/>
            <a:ext cx="64008" cy="20116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38679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다운링크 텍스트 JSON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" y="4325112"/>
            <a:ext cx="49926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appliance_snapshot / appliance_update — 기기 상태(로그).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transcript — 사용자/에이전트 전사(스피커 전용이므로 로그만).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 — listening / thinking / speaking.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audio_clear — 재생 중단(barge-in flush).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72200" y="3703320"/>
            <a:ext cx="539496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3703320"/>
            <a:ext cx="64008" cy="20116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6391656" y="38679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제어 텍스트 JSON (선택)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91656" y="4325112"/>
            <a:ext cx="499262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send_text — 텍스트 입력 주입.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stop_session — 세션 종료.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에뮬레이터는 오디오 재생만 검증한다(화면 없음). 전사/기기 이벤트는 로그로만 확인.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DATAFLOW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데이터플로우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업링크 (마이크 → 서버)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1984248"/>
            <a:ext cx="2514600" cy="1234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12140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" y="2642616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 캡처 (PCM16/24kHz) — OS별 백엔드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36392" y="232714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447288" y="1984248"/>
            <a:ext cx="2514600" cy="1234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84448" y="212140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3584448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75304" y="2642616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2채널이면 Downmix로 모노 변환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232714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54496" y="1984248"/>
            <a:ext cx="2514600" cy="1234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91656" y="212140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6391656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82512" y="2642616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에코 게이트: 스피커 재생 중이면 업링크 억제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50808" y="232714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061704" y="1984248"/>
            <a:ext cx="2514600" cy="1234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98864" y="2121408"/>
            <a:ext cx="457200" cy="45720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9198864" y="2121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89720" y="2642616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바이너리 전송 → 백엔드 → VoiceLive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다운링크 (서버 → 스피커)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087368"/>
            <a:ext cx="2514600" cy="1234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4224528"/>
            <a:ext cx="457200" cy="457200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8096" y="4745736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VoiceLive 응답 오디오 → 백엔드 → WebSocket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136392" y="44302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447288" y="4087368"/>
            <a:ext cx="2514600" cy="1234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584448" y="4224528"/>
            <a:ext cx="457200" cy="457200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34" name="Text 32"/>
          <p:cNvSpPr/>
          <p:nvPr/>
        </p:nvSpPr>
        <p:spPr>
          <a:xfrm>
            <a:off x="3584448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575304" y="4745736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바이너리 프레임 수신 (PCM16/24kHz/모노)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44302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6254496" y="4087368"/>
            <a:ext cx="2514600" cy="1234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91656" y="4224528"/>
            <a:ext cx="457200" cy="457200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39" name="Text 37"/>
          <p:cNvSpPr/>
          <p:nvPr/>
        </p:nvSpPr>
        <p:spPr>
          <a:xfrm>
            <a:off x="6391656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82512" y="4745736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지터 버퍼 → 스피커 재생 (끊김/언더런 방지)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750808" y="4430268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9061704" y="4087368"/>
            <a:ext cx="2514600" cy="123444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9198864" y="4224528"/>
            <a:ext cx="457200" cy="457200"/>
          </a:xfrm>
          <a:prstGeom prst="ellipse">
            <a:avLst/>
          </a:prstGeom>
          <a:solidFill>
            <a:srgbClr val="1F2933"/>
          </a:solidFill>
          <a:ln/>
        </p:spPr>
      </p:sp>
      <p:sp>
        <p:nvSpPr>
          <p:cNvPr id="44" name="Text 42"/>
          <p:cNvSpPr/>
          <p:nvPr/>
        </p:nvSpPr>
        <p:spPr>
          <a:xfrm>
            <a:off x="9198864" y="4224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189720" y="4745736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audio_clear 수신 시 즉시 재생 중단(barge-in)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구현: Python &amp; C#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94960" cy="40233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64008" cy="40233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에뮬레이터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221992"/>
            <a:ext cx="499262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 관리자: uv (신속 재현 가능한 환경).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asyncio 기반 업링크/다운링크 동시 처리.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sounddevice 실시간 마이크/스피커 I/O.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분리: 캡처 콜백 → 스레드-세이프 큐 → asyncio 전송. (초기 “마이크 미전송” 버그 해결)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지터 버퍼로 재생 언더런/단어 잘림 방지.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반이중 EchoGate로 음향 에코 억제.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함수에 상세 한국어 주석.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108개 통과.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40233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00200"/>
            <a:ext cx="64008" cy="40233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에뮬레이터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2221992"/>
            <a:ext cx="4992624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.NET 8 · 네이티브 C 스타일(절차적, 명시적 버퍼, 최소 추상화).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OS별 오디오 백엔드를 P/Invoke로 직접 구현: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→ ALSA (libasound)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→ WASAPI (NAudio)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macOS → CoreAudio (AudioToolbox AudioQueue)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Downmix — 2채널→모노 온디바이스 변환.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EchoGate — 반이중 에코 억제(0.25초 hangover).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24개 통과.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PLATFORMS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지원 매트릭스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  <a:gridCol w="2103120"/>
                <a:gridCol w="20116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오디오 백엔드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HW I/O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Linux / ARM (Cortex-A53)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ALSA — libasound P/Invoke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(마이크·스피커)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타깃 디바이스 근접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Windows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WASAPI — NAudio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(마이크·스피커)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· 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macOS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CoreAudio — AudioToolbox AudioQueue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(마이크·스피커)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· 검증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/ 헤드리스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Synthetic(합성) · File(파일)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자동화 테스트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49377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감지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C#은 RuntimeInformation.IsOSPlatform, Python은 platform 모듈로 OS를 판별해 백엔드를 선택한다. 하드웨어가 없으면 합성/파일 백엔드로 자동 폴백(CI 안전). DEVICESIM_FORCE_SYNTHETIC=1 로 합성 강제 가능.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AUDIO CHANNELS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채널: 왜 모노인가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881360" cy="56692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— ThinQ ON 은 모노(1채널)로 업링크해야 한다.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5394960" cy="3429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286000"/>
            <a:ext cx="64008" cy="3429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8"/>
          <p:cNvSpPr/>
          <p:nvPr/>
        </p:nvSpPr>
        <p:spPr>
          <a:xfrm>
            <a:off x="859536" y="24505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(코드 기반)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" y="2907792"/>
            <a:ext cx="499262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VoiceLive 는 모노 전용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input_audio_format = PCM16 (모노). 채널 수 지정 필드가 없고, 두 번째 채널을 노이즈 제거에 활용하지 못한다.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백엔드는 바이트를 그대로 전달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assistant/app.py 의 /session 은 디바이스 바이트를 verbatim 으로 VoiceLive에 전달. 인터리브드 2채널을 그대로 보내면 모노 디코더가 매 두 번째 샘플을 오해석 → 피치/속도 왜곡.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ThinQ ON 은 이미 온디바이스 처리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AEC · 빔포밍 · 원거리 인식을 디바이스에서 수행 → 잡음 제거가 이미 끝난 상태. 서버로 raw 2채널을 보낼 이유가 없다.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286000"/>
            <a:ext cx="5394960" cy="3429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2286000"/>
            <a:ext cx="64008" cy="3429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24505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결정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91656" y="2907792"/>
            <a:ext cx="4992624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--channels 1 (모노).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--channels 2 는 2-마이크 어레이에서 캡처한 뒤 전송 직전 온디바이스에서 모노로 다운믹스한다.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와이어 포맷은 항상 모노이므로 ?channels=2 쿼리는 사용하지 않는다(브라우저 계약과 동일).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안전망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app.py 는 ?channels=2 수신 시 서버측에서 L+R→모노 다운믹스를 수행(하위호환). 단, 권장·구현 방식은 온디바이스 모노 다운믹스다.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AUDIO CHANNELS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“2채널”이 의미할 수 있는 것 — 비교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572000"/>
                <a:gridCol w="33832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탭(tap) 지점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채널의 구성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VoiceLive에 유용한가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원시 2×MEMS 마이크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채널 모두 음성 + 잡음 (미처리)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24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 — 모노 디코더가 인터리브를 깨뜨림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ANC / 참조 채널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 채널 + 파생된 ‘잡음 전용’ 채널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7424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아니오 — Realtime API는 참조 채널 미지원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DSP 후처리 출력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단일 정제(clean) 모노 스트림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74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— 우리가 실제로 보내는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617720"/>
            <a:ext cx="5394960" cy="109728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4617720"/>
            <a:ext cx="64008" cy="10972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9" name="Text 6"/>
          <p:cNvSpPr/>
          <p:nvPr/>
        </p:nvSpPr>
        <p:spPr>
          <a:xfrm>
            <a:off x="859536" y="47823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2채널이 유용한 경우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59536" y="5239512"/>
            <a:ext cx="4992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‘저지능’ 디바이스 + 서버측 마이크-어레이 처리(빔포밍)를 서버가 수행할 때.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ThinQ ON 은 온디바이스 처리를 하므로 해당 없음.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4617720"/>
            <a:ext cx="5394960" cy="109728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172200" y="4617720"/>
            <a:ext cx="64008" cy="10972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0"/>
          <p:cNvSpPr/>
          <p:nvPr/>
        </p:nvSpPr>
        <p:spPr>
          <a:xfrm>
            <a:off x="6391656" y="47823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391656" y="5239512"/>
            <a:ext cx="499262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ON: 정제된 모노 스트림을 업링크한다.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2번째 채널은 인식 품질을 높이지 못하고 대역폭만 늘린다.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ACOUSTIC ECHO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음향 에코(AEC): AEC 부재 환경의 문제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94960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64008" cy="2194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221992"/>
            <a:ext cx="49926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스피커 출력이 마이크로 재유입 → 에뮬레이터가 자기 발화를 사용자 입력으로 오인식.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시작 부분이 잘리고(‘단어 먹힘’), 응답 품질 저하.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원시 PCM 캡처에는 AEC 파이프라인이 없어 발생.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00200"/>
            <a:ext cx="64008" cy="2194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반이중(half-duplex) 억제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2221992"/>
            <a:ext cx="49926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EchoGate — 스피커 재생 중 + 종료 후 0.25초 hangover 동안 마이크 업링크를 억제.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 리버브가 마이크에 남는 잔향까지 흡수.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--allow-barge-in 으로 비활성화 가능(HW AEC 장비용).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10881360" cy="1783080"/>
          </a:xfrm>
          <a:prstGeom prst="rect">
            <a:avLst/>
          </a:prstGeom>
          <a:solidFill>
            <a:srgbClr val="F4F5F7"/>
          </a:solidFill>
          <a:ln w="12700">
            <a:solidFill>
              <a:srgbClr val="D8DC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931920"/>
            <a:ext cx="64008" cy="1783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0690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인사이트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" y="448056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에코는 “CLI 전용” 문제가 아니라 “AEC 부재” 문제다. </a:t>
            </a:r>
            <a:pPr indent="0" marL="0">
              <a:buNone/>
            </a:pPr>
            <a:r>
              <a:rPr lang="en-US" sz="130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브라우저는 WebRTC AEC3가 마이크 단에서 에코를 제거하므로 문제가 드러나지 않는다. 실제 ThinQ ON 은 전용 하드웨어 AEC를 갖는다. CLI 에뮬레이터만 원시 PCM을 다루므로 소프트웨어 반이중 억제로 이를 대체한다.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ACOUSTIC ECHO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AEC 비교: 브라우저 · CLI · ThinQ 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6126480"/>
              </a:tblGrid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AEC 유무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933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브라우저 프론트엔드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74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WebRTC AEC3 — getUserMedia({ echoCancellation, noiseSuppression, autoGainControl })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 에뮬레이터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 (원시 PCM)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소프트웨어 반이중(EchoGate)으로 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ThinQ ON (실제)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E749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 (하드웨어)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364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전용 DSP/AEC · 빔포밍 · 원거리 인식(3–5m)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63500" marB="63500" anchor="ctr">
                    <a:lnL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0292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  </a:t>
            </a:r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에뮬레이터의 소프트웨어 억제는 AEC가 없는 개발 환경을 위한 보완책이다. 실제 ThinQ ON 배포 시에는 하드웨어 AEC가 동작하므로 --allow-barge-in 으로 완전 이중(full-duplex) 대화를 활성화할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TESTING &amp;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전략 &amp; 라이브 검증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94960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64008" cy="2194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TDD 전략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221992"/>
            <a:ext cx="49926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인터페이스(seam) 단위로 red → green 테스트 우선 작성.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다운믹스 · 에코 게이트 · 캡처 폴백 · 업링크 모노 정규화 등 핵심 로직 커버.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세부가 아닌 동작(behavior)을 검증 → 리팩터링에 견고.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219456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00200"/>
            <a:ext cx="64008" cy="2194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규모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2221992"/>
            <a:ext cx="499262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Python: 108개 통과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C#: 24개 통과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다운믹스 · 에코 게이트 · 세션 · 업링크 미터 · 플레이어 등.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3474720" cy="1783080"/>
          </a:xfrm>
          <a:prstGeom prst="rect">
            <a:avLst/>
          </a:prstGeom>
          <a:solidFill>
            <a:srgbClr val="1F293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931920"/>
            <a:ext cx="3474720" cy="640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160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40080" y="5074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프로덕션 URL 검증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343400" y="3931920"/>
            <a:ext cx="3474720" cy="1783080"/>
          </a:xfrm>
          <a:prstGeom prst="rect">
            <a:avLst/>
          </a:prstGeom>
          <a:solidFill>
            <a:srgbClr val="1F293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3931920"/>
            <a:ext cx="3474720" cy="640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4343400" y="4160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 / 24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343400" y="5074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/ C# 테스트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3931920"/>
            <a:ext cx="3474720" cy="1783080"/>
          </a:xfrm>
          <a:prstGeom prst="rect">
            <a:avLst/>
          </a:prstGeom>
          <a:solidFill>
            <a:srgbClr val="1F293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46720" y="3931920"/>
            <a:ext cx="3474720" cy="6400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41605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모노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046720" y="50749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업링크 와이어 포맷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TESTING &amp; VALIDATION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 스모크 테스트 결과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394960" cy="2286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002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Container Apps (ACA)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9536" y="2221992"/>
            <a:ext cx="499262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TLS(443). greeting + 다중 턴 대화 확인.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마이크 → WSS → 스피커 왕복 재생 확인.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C# --channels 2 스테레오 발화 → 다운믹스 후 도메인에 맞는 응답 생성 → 인식 정상(깨짐 없음).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94960" cy="2286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00200"/>
            <a:ext cx="64008" cy="2286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391656" y="17647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VM (kukovm2)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91656" y="2221992"/>
            <a:ext cx="499262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프록시 :5173, 자체 서명 인증서.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--insecure(TLS 검증 생략)로 연결, greeting 재생 확인.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443/80 은 설계상 차단, 5173/8000 사용.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10881360" cy="1691640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4023360"/>
            <a:ext cx="64008" cy="16916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Text 14"/>
          <p:cNvSpPr/>
          <p:nvPr/>
        </p:nvSpPr>
        <p:spPr>
          <a:xfrm>
            <a:off x="859536" y="4187952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동작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" y="4645152"/>
            <a:ext cx="104790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즉시 스트리밍 · greeting 완전 재생(단어 잘림 없음) · 언더런 0 · 에코 루프 차단.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다운믹스된 업링크가 정상 모노로 인식(에이전트가 문맥에 맞는 도메인 응답 생성).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플랫폼(Linux/ARM · Windows · macOS)에서 실제 마이크·스피커 하드웨어로 동작.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ADOPTION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가이드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Microsoft Korea STU &amp; GBB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LG전자 ThinQ AI 엔지니어 대상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7556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준비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63440" y="175564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Python: uv sync · C#: .NET 8 SDK. OS별 오디오 백엔드 자동 선택.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60120" y="2395728"/>
            <a:ext cx="0" cy="301752"/>
          </a:xfrm>
          <a:prstGeom prst="line">
            <a:avLst/>
          </a:prstGeom>
          <a:noFill/>
          <a:ln w="19050">
            <a:solidFill>
              <a:srgbClr val="D8DC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27157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271576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--url 로 프로덕션/스테이징 WSS 지정. 자체서명 인증서는 --insecure.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3355848"/>
            <a:ext cx="0" cy="301752"/>
          </a:xfrm>
          <a:prstGeom prst="line">
            <a:avLst/>
          </a:prstGeom>
          <a:noFill/>
          <a:ln w="19050">
            <a:solidFill>
              <a:srgbClr val="D8DC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65760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67588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디바이스 근접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67588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ARM Cortex-A53 타깃은 C# + ALSA 경로. 2×MEMS는 온디바이스 모노 다운믹스.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0120" y="4315968"/>
            <a:ext cx="0" cy="301752"/>
          </a:xfrm>
          <a:prstGeom prst="line">
            <a:avLst/>
          </a:prstGeom>
          <a:noFill/>
          <a:ln w="19050">
            <a:solidFill>
              <a:srgbClr val="D8DC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617720"/>
            <a:ext cx="640080" cy="640080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63600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ON 전환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4636008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24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 AEC 활성 → --allow-barge-in 으로 full-duplex 대화. 모노 업링크 유지.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4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&amp; 다음 단계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E9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· C# 헤드리스 디바이스 에뮬레이터로 end-to-end 음성 경로를 실 하드웨어 없이 검증.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E9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OS(Linux/ARM · Windows · macOS)에서 실제 마이크·스피커 지원, CI는 합성/파일 폴백.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E9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ThinQ ON 은 모노 업링크가 정답 — VoiceLive 모노 전용 + 온디바이스 HW AEC/빔포밍.</a:t>
            </a:r>
            <a:endParaRPr lang="en-US" sz="15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4E9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AEC 부재 개발 환경은 소프트웨어 반이중 억제로 보완, 실 디바이스는 HW AEC로 full-duplex.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E4E9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프로덕션 URL 라이브 스모크 통과 (Python 108 / C# 24 테스트).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solidFill>
            <a:srgbClr val="2A394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5074920"/>
            <a:ext cx="64008" cy="10058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8" name="Text 6"/>
          <p:cNvSpPr/>
          <p:nvPr/>
        </p:nvSpPr>
        <p:spPr>
          <a:xfrm>
            <a:off x="859536" y="523036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 </a:t>
            </a:r>
            <a:pPr indent="0" marL="0">
              <a:buNone/>
            </a:pPr>
            <a:r>
              <a:rPr lang="en-US" sz="1300" dirty="0">
                <a:solidFill>
                  <a:srgbClr val="C7D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ThinQ ON 하드웨어 확보 후 HW AEC 하에서 full-duplex 검증 · 원거리 인식/빔포밍 실측 · 지연(latency) 프로파일링.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ThinQ Voice Live 디바이스 에뮬레이터</dc:title>
  <dc:subject>PptxGenJS Presentation</dc:subject>
  <dc:creator>Microsoft Korea STU &amp; GBB</dc:creator>
  <cp:lastModifiedBy>Microsoft Korea STU &amp; GBB</cp:lastModifiedBy>
  <cp:revision>1</cp:revision>
  <dcterms:created xsi:type="dcterms:W3CDTF">2026-07-05T14:32:31Z</dcterms:created>
  <dcterms:modified xsi:type="dcterms:W3CDTF">2026-07-05T14:32:31Z</dcterms:modified>
</cp:coreProperties>
</file>